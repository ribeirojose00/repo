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690CF-8F67-4EDC-A712-2455A23D2A9D}" type="datetimeFigureOut">
              <a:rPr lang="es-AR" smtClean="0"/>
              <a:t>7/4/2026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A7DEEE7D-E961-4992-9B80-FE10C70091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43177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690CF-8F67-4EDC-A712-2455A23D2A9D}" type="datetimeFigureOut">
              <a:rPr lang="es-AR" smtClean="0"/>
              <a:t>7/4/2026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EE7D-E961-4992-9B80-FE10C70091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86035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690CF-8F67-4EDC-A712-2455A23D2A9D}" type="datetimeFigureOut">
              <a:rPr lang="es-AR" smtClean="0"/>
              <a:t>7/4/2026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EE7D-E961-4992-9B80-FE10C70091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716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690CF-8F67-4EDC-A712-2455A23D2A9D}" type="datetimeFigureOut">
              <a:rPr lang="es-AR" smtClean="0"/>
              <a:t>7/4/2026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EE7D-E961-4992-9B80-FE10C70091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19925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690CF-8F67-4EDC-A712-2455A23D2A9D}" type="datetimeFigureOut">
              <a:rPr lang="es-AR" smtClean="0"/>
              <a:t>7/4/2026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EE7D-E961-4992-9B80-FE10C70091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11753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690CF-8F67-4EDC-A712-2455A23D2A9D}" type="datetimeFigureOut">
              <a:rPr lang="es-AR" smtClean="0"/>
              <a:t>7/4/2026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EE7D-E961-4992-9B80-FE10C70091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49937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690CF-8F67-4EDC-A712-2455A23D2A9D}" type="datetimeFigureOut">
              <a:rPr lang="es-AR" smtClean="0"/>
              <a:t>7/4/2026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EE7D-E961-4992-9B80-FE10C70091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15765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690CF-8F67-4EDC-A712-2455A23D2A9D}" type="datetimeFigureOut">
              <a:rPr lang="es-AR" smtClean="0"/>
              <a:t>7/4/2026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EE7D-E961-4992-9B80-FE10C70091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04115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6A690CF-8F67-4EDC-A712-2455A23D2A9D}" type="datetimeFigureOut">
              <a:rPr lang="es-AR" smtClean="0"/>
              <a:t>7/4/2026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EE7D-E961-4992-9B80-FE10C70091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71513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690CF-8F67-4EDC-A712-2455A23D2A9D}" type="datetimeFigureOut">
              <a:rPr lang="es-AR" smtClean="0"/>
              <a:t>7/4/2026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EE7D-E961-4992-9B80-FE10C70091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955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690CF-8F67-4EDC-A712-2455A23D2A9D}" type="datetimeFigureOut">
              <a:rPr lang="es-AR" smtClean="0"/>
              <a:t>7/4/2026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EE7D-E961-4992-9B80-FE10C70091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73235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690CF-8F67-4EDC-A712-2455A23D2A9D}" type="datetimeFigureOut">
              <a:rPr lang="es-AR" smtClean="0"/>
              <a:t>7/4/2026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7DEEE7D-E961-4992-9B80-FE10C70091AD}" type="slidenum">
              <a:rPr lang="es-AR" smtClean="0"/>
              <a:t>‹Nº›</a:t>
            </a:fld>
            <a:endParaRPr lang="es-AR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66164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623309-1934-563C-CAD3-7B3ACB85B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7820" y="2150419"/>
            <a:ext cx="9916357" cy="1380786"/>
          </a:xfrm>
        </p:spPr>
        <p:txBody>
          <a:bodyPr anchor="t">
            <a:noAutofit/>
          </a:bodyPr>
          <a:lstStyle/>
          <a:p>
            <a:pPr algn="ctr"/>
            <a:r>
              <a:rPr lang="es-MX" sz="4800" dirty="0">
                <a:latin typeface="Adobe Thai" panose="02040503050201020203" pitchFamily="18" charset="-34"/>
                <a:cs typeface="Adobe Thai" panose="02040503050201020203" pitchFamily="18" charset="-34"/>
              </a:rPr>
              <a:t>Control de un Motor BLDC para Articulación de Codo Protésico</a:t>
            </a:r>
            <a:endParaRPr lang="es-AR" sz="4800" dirty="0">
              <a:latin typeface="Adobe Thai" panose="02040503050201020203" pitchFamily="18" charset="-34"/>
              <a:cs typeface="Adobe Thai" panose="02040503050201020203" pitchFamily="18" charset="-34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4CE45F1-E4DB-6728-8DC0-2271172CD6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7463" y="3531205"/>
            <a:ext cx="8637072" cy="977621"/>
          </a:xfrm>
        </p:spPr>
        <p:txBody>
          <a:bodyPr/>
          <a:lstStyle/>
          <a:p>
            <a:pPr algn="ctr"/>
            <a:r>
              <a:rPr lang="es-MX" dirty="0">
                <a:latin typeface="Adobe Thai" panose="02040503050201020203" pitchFamily="18" charset="-34"/>
                <a:cs typeface="Adobe Thai" panose="02040503050201020203" pitchFamily="18" charset="-34"/>
              </a:rPr>
              <a:t>Diseño, modelado y control en cascada para emulación biomecánica.</a:t>
            </a:r>
            <a:endParaRPr lang="es-AR" dirty="0">
              <a:latin typeface="Adobe Thai" panose="02040503050201020203" pitchFamily="18" charset="-34"/>
              <a:cs typeface="Adobe Thai" panose="02040503050201020203" pitchFamily="18" charset="-34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2D1C314-D7F5-DE15-0C8A-530FA58ADFC4}"/>
              </a:ext>
            </a:extLst>
          </p:cNvPr>
          <p:cNvSpPr txBox="1"/>
          <p:nvPr/>
        </p:nvSpPr>
        <p:spPr>
          <a:xfrm>
            <a:off x="736847" y="4598633"/>
            <a:ext cx="28055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dobe Thai" panose="02040503050201020203" pitchFamily="18" charset="-34"/>
                <a:cs typeface="Adobe Thai" panose="02040503050201020203" pitchFamily="18" charset="-34"/>
              </a:rPr>
              <a:t>Cátedra: Control y Sistemas.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dobe Thai" panose="02040503050201020203" pitchFamily="18" charset="-34"/>
                <a:cs typeface="Adobe Thai" panose="02040503050201020203" pitchFamily="18" charset="-34"/>
              </a:rPr>
              <a:t>Nombre: Ribeiro, José Ignacio.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dobe Thai" panose="02040503050201020203" pitchFamily="18" charset="-34"/>
                <a:cs typeface="Adobe Thai" panose="02040503050201020203" pitchFamily="18" charset="-34"/>
              </a:rPr>
              <a:t>Año: 2026</a:t>
            </a:r>
          </a:p>
        </p:txBody>
      </p:sp>
    </p:spTree>
    <p:extLst>
      <p:ext uri="{BB962C8B-B14F-4D97-AF65-F5344CB8AC3E}">
        <p14:creationId xmlns:p14="http://schemas.microsoft.com/office/powerpoint/2010/main" val="3497042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94C012-768A-569E-6C87-C3690322A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AR" dirty="0">
                <a:cs typeface="Adobe Thai" panose="02040503050201020203" pitchFamily="18" charset="-34"/>
              </a:rPr>
              <a:t>Resumen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3F6548-5A7C-8525-ECF6-ED4BB1F70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>
                <a:cs typeface="Adobe Thai" panose="02040503050201020203" pitchFamily="18" charset="-34"/>
              </a:rPr>
              <a:t>El objetivo del proyecto es el diseño de un sistema de control para una prótesis biomecánica de una extremidad superior que parte por encima del codo.</a:t>
            </a:r>
          </a:p>
          <a:p>
            <a:pPr marL="0" indent="0">
              <a:buNone/>
            </a:pPr>
            <a:r>
              <a:rPr lang="es-MX" dirty="0">
                <a:cs typeface="Adobe Thai" panose="02040503050201020203" pitchFamily="18" charset="-34"/>
              </a:rPr>
              <a:t>El trabajo consta de tres partes:</a:t>
            </a:r>
          </a:p>
          <a:p>
            <a:r>
              <a:rPr lang="es-MX" b="1" dirty="0">
                <a:cs typeface="Adobe Thai" panose="02040503050201020203" pitchFamily="18" charset="-34"/>
              </a:rPr>
              <a:t>1</a:t>
            </a:r>
            <a:r>
              <a:rPr lang="es-MX" b="1" baseline="30000" dirty="0">
                <a:cs typeface="Adobe Thai" panose="02040503050201020203" pitchFamily="18" charset="-34"/>
              </a:rPr>
              <a:t>ra</a:t>
            </a:r>
            <a:r>
              <a:rPr lang="es-MX" b="1" dirty="0">
                <a:cs typeface="Adobe Thai" panose="02040503050201020203" pitchFamily="18" charset="-34"/>
              </a:rPr>
              <a:t> Parte:</a:t>
            </a:r>
            <a:r>
              <a:rPr lang="es-MX" dirty="0">
                <a:cs typeface="Adobe Thai" panose="02040503050201020203" pitchFamily="18" charset="-34"/>
              </a:rPr>
              <a:t> Presentación del sistema físico y su modelo matemático.</a:t>
            </a:r>
          </a:p>
          <a:p>
            <a:r>
              <a:rPr lang="es-MX" b="1" dirty="0">
                <a:cs typeface="Adobe Thai" panose="02040503050201020203" pitchFamily="18" charset="-34"/>
              </a:rPr>
              <a:t>2</a:t>
            </a:r>
            <a:r>
              <a:rPr lang="es-MX" b="1" baseline="30000" dirty="0">
                <a:cs typeface="Adobe Thai" panose="02040503050201020203" pitchFamily="18" charset="-34"/>
              </a:rPr>
              <a:t>da</a:t>
            </a:r>
            <a:r>
              <a:rPr lang="es-MX" b="1" dirty="0">
                <a:cs typeface="Adobe Thai" panose="02040503050201020203" pitchFamily="18" charset="-34"/>
              </a:rPr>
              <a:t> Parte:</a:t>
            </a:r>
            <a:r>
              <a:rPr lang="es-MX" dirty="0">
                <a:cs typeface="Adobe Thai" panose="02040503050201020203" pitchFamily="18" charset="-34"/>
              </a:rPr>
              <a:t> Diseño del sistema de control.</a:t>
            </a:r>
          </a:p>
          <a:p>
            <a:r>
              <a:rPr lang="es-MX" b="1" dirty="0">
                <a:cs typeface="Adobe Thai" panose="02040503050201020203" pitchFamily="18" charset="-34"/>
              </a:rPr>
              <a:t>3</a:t>
            </a:r>
            <a:r>
              <a:rPr lang="es-MX" b="1" baseline="30000" dirty="0">
                <a:cs typeface="Adobe Thai" panose="02040503050201020203" pitchFamily="18" charset="-34"/>
              </a:rPr>
              <a:t>ra</a:t>
            </a:r>
            <a:r>
              <a:rPr lang="es-MX" b="1" dirty="0">
                <a:cs typeface="Adobe Thai" panose="02040503050201020203" pitchFamily="18" charset="-34"/>
              </a:rPr>
              <a:t> Parte:</a:t>
            </a:r>
            <a:r>
              <a:rPr lang="es-MX" dirty="0">
                <a:cs typeface="Adobe Thai" panose="02040503050201020203" pitchFamily="18" charset="-34"/>
              </a:rPr>
              <a:t> Pruebas y conclusiones.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621735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6BA4E-5957-0A76-7DB8-37FD547D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MX" dirty="0"/>
              <a:t>Sistema físico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7C967382-9E84-1FDD-AE89-5ABDDEB338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2840584" cy="410583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MX" sz="1600" dirty="0">
                <a:solidFill>
                  <a:schemeClr val="tx2"/>
                </a:solidFill>
                <a:latin typeface="+mj-lt"/>
              </a:rPr>
              <a:t>Actuador</a:t>
            </a:r>
          </a:p>
          <a:p>
            <a:pPr marL="0" indent="0">
              <a:buNone/>
            </a:pPr>
            <a:r>
              <a:rPr lang="es-MX" sz="1400" b="1" dirty="0">
                <a:solidFill>
                  <a:schemeClr val="tx2"/>
                </a:solidFill>
              </a:rPr>
              <a:t>Motor BLDC</a:t>
            </a:r>
            <a:r>
              <a:rPr lang="es-MX" sz="1400" dirty="0">
                <a:solidFill>
                  <a:schemeClr val="tx2"/>
                </a:solidFill>
              </a:rPr>
              <a:t>:</a:t>
            </a:r>
          </a:p>
          <a:p>
            <a:r>
              <a:rPr lang="es-MX" sz="1200" dirty="0">
                <a:solidFill>
                  <a:schemeClr val="tx2"/>
                </a:solidFill>
              </a:rPr>
              <a:t>Relación Par-Peso: Torque elevado en un volumen y peso reducidos.</a:t>
            </a:r>
          </a:p>
          <a:p>
            <a:r>
              <a:rPr lang="es-MX" sz="1200" dirty="0">
                <a:solidFill>
                  <a:schemeClr val="tx2"/>
                </a:solidFill>
              </a:rPr>
              <a:t>Eficiencia Energética: Al no tener escobillas, no hay pérdidas por fricción mecánica ni chispas.</a:t>
            </a:r>
          </a:p>
          <a:p>
            <a:r>
              <a:rPr lang="es-MX" sz="1200" dirty="0">
                <a:solidFill>
                  <a:schemeClr val="tx2"/>
                </a:solidFill>
              </a:rPr>
              <a:t>Control Dinámico: Permite un control preciso de velocidad y torque mediante conmutación electrónica.</a:t>
            </a:r>
          </a:p>
          <a:p>
            <a:r>
              <a:rPr lang="es-MX" sz="1200" dirty="0">
                <a:solidFill>
                  <a:schemeClr val="tx2"/>
                </a:solidFill>
              </a:rPr>
              <a:t>Ruido Acústico: Son más silenciosos, lo que mejora la experiencia estética y social del usuario.</a:t>
            </a:r>
          </a:p>
          <a:p>
            <a:endParaRPr lang="es-AR" dirty="0">
              <a:solidFill>
                <a:schemeClr val="tx2"/>
              </a:solidFill>
            </a:endParaRP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730F274-87D7-0BAC-1EB9-79C35E2E0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75708" y="2006524"/>
            <a:ext cx="2840584" cy="410583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MX" sz="1600" dirty="0">
                <a:solidFill>
                  <a:schemeClr val="tx2"/>
                </a:solidFill>
                <a:latin typeface="+mj-lt"/>
              </a:rPr>
              <a:t>Sensores</a:t>
            </a:r>
            <a:endParaRPr lang="es-MX" sz="3200" dirty="0">
              <a:solidFill>
                <a:schemeClr val="tx2"/>
              </a:solidFill>
              <a:latin typeface="+mj-lt"/>
            </a:endParaRPr>
          </a:p>
          <a:p>
            <a:pPr marL="0" indent="0">
              <a:buNone/>
            </a:pPr>
            <a:r>
              <a:rPr lang="es-MX" sz="1200" b="1" dirty="0">
                <a:solidFill>
                  <a:schemeClr val="tx2"/>
                </a:solidFill>
              </a:rPr>
              <a:t>Sensores Hall</a:t>
            </a:r>
            <a:r>
              <a:rPr lang="es-MX" sz="1200" dirty="0">
                <a:solidFill>
                  <a:schemeClr val="tx2"/>
                </a:solidFill>
              </a:rPr>
              <a:t>: Sensores de posición integrados en el rotor del BLDC y son accesibles desde el cableado del motor.</a:t>
            </a:r>
          </a:p>
          <a:p>
            <a:pPr lvl="1"/>
            <a:r>
              <a:rPr lang="es-MX" sz="1200" dirty="0">
                <a:solidFill>
                  <a:schemeClr val="tx2"/>
                </a:solidFill>
              </a:rPr>
              <a:t>Espacio y Peso.</a:t>
            </a:r>
          </a:p>
          <a:p>
            <a:pPr lvl="1"/>
            <a:r>
              <a:rPr lang="es-MX" sz="1200" dirty="0">
                <a:solidFill>
                  <a:schemeClr val="tx2"/>
                </a:solidFill>
              </a:rPr>
              <a:t>Conmutación.</a:t>
            </a:r>
          </a:p>
          <a:p>
            <a:pPr lvl="1"/>
            <a:r>
              <a:rPr lang="es-MX" sz="1200" dirty="0">
                <a:solidFill>
                  <a:schemeClr val="tx2"/>
                </a:solidFill>
              </a:rPr>
              <a:t>Simplicidad de Hardware.</a:t>
            </a:r>
          </a:p>
          <a:p>
            <a:pPr marL="0" indent="0">
              <a:buNone/>
            </a:pPr>
            <a:r>
              <a:rPr lang="es-MX" sz="1200" b="1" dirty="0">
                <a:solidFill>
                  <a:schemeClr val="tx2"/>
                </a:solidFill>
              </a:rPr>
              <a:t>Sensores Shunt</a:t>
            </a:r>
            <a:r>
              <a:rPr lang="es-MX" sz="1200" dirty="0">
                <a:solidFill>
                  <a:schemeClr val="tx2"/>
                </a:solidFill>
              </a:rPr>
              <a:t>: Resistencias de derivación precisas conectadas en serie a las fases del motor. </a:t>
            </a:r>
          </a:p>
          <a:p>
            <a:pPr lvl="1"/>
            <a:r>
              <a:rPr lang="es-AR" sz="1200" dirty="0">
                <a:solidFill>
                  <a:schemeClr val="tx2"/>
                </a:solidFill>
              </a:rPr>
              <a:t>Ancho de Banda Elevado.</a:t>
            </a:r>
          </a:p>
          <a:p>
            <a:pPr lvl="1"/>
            <a:r>
              <a:rPr lang="es-AR" sz="1200" dirty="0">
                <a:solidFill>
                  <a:schemeClr val="tx2"/>
                </a:solidFill>
              </a:rPr>
              <a:t>Linealidad y Precisión.</a:t>
            </a:r>
          </a:p>
          <a:p>
            <a:pPr lvl="1"/>
            <a:r>
              <a:rPr lang="es-AR" sz="1200" dirty="0">
                <a:solidFill>
                  <a:schemeClr val="tx2"/>
                </a:solidFill>
              </a:rPr>
              <a:t>Bajo Costo y Volumen.</a:t>
            </a:r>
            <a:endParaRPr lang="es-MX" sz="1200" dirty="0">
              <a:solidFill>
                <a:schemeClr val="tx2"/>
              </a:solidFill>
            </a:endParaRPr>
          </a:p>
        </p:txBody>
      </p: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1ACB38B7-F329-2204-7A1E-BD496717124F}"/>
              </a:ext>
            </a:extLst>
          </p:cNvPr>
          <p:cNvSpPr txBox="1">
            <a:spLocks/>
          </p:cNvSpPr>
          <p:nvPr/>
        </p:nvSpPr>
        <p:spPr>
          <a:xfrm>
            <a:off x="7904085" y="2006525"/>
            <a:ext cx="2840584" cy="410583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1600" dirty="0">
                <a:solidFill>
                  <a:schemeClr val="tx2"/>
                </a:solidFill>
              </a:rPr>
              <a:t>Transmisión</a:t>
            </a:r>
            <a:endParaRPr lang="es-MX" sz="2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MX" sz="1200" b="1" dirty="0">
                <a:solidFill>
                  <a:schemeClr val="tx2"/>
                </a:solidFill>
              </a:rPr>
              <a:t>Engranajes Planetarios</a:t>
            </a:r>
            <a:r>
              <a:rPr lang="es-MX" sz="1200" dirty="0">
                <a:solidFill>
                  <a:schemeClr val="tx2"/>
                </a:solidFill>
              </a:rPr>
              <a:t>:</a:t>
            </a:r>
          </a:p>
          <a:p>
            <a:r>
              <a:rPr lang="es-MX" sz="1200" dirty="0">
                <a:solidFill>
                  <a:schemeClr val="tx2"/>
                </a:solidFill>
              </a:rPr>
              <a:t>Alta Densidad de Torque</a:t>
            </a:r>
            <a:r>
              <a:rPr lang="es-MX" sz="1200" b="1" dirty="0">
                <a:solidFill>
                  <a:schemeClr val="tx2"/>
                </a:solidFill>
              </a:rPr>
              <a:t>:</a:t>
            </a:r>
            <a:r>
              <a:rPr lang="es-MX" sz="1200" dirty="0">
                <a:solidFill>
                  <a:schemeClr val="tx2"/>
                </a:solidFill>
              </a:rPr>
              <a:t> Permiten multiplicar el par del motor en un volumen muy compacto.</a:t>
            </a:r>
          </a:p>
          <a:p>
            <a:r>
              <a:rPr lang="es-MX" sz="1200" dirty="0">
                <a:solidFill>
                  <a:schemeClr val="tx2"/>
                </a:solidFill>
              </a:rPr>
              <a:t>Distribución de Carga: Tiene varios engranajes satélites, el desgaste es menor y la vida útil es mayor que en un reductor de ejes paralelos.</a:t>
            </a:r>
          </a:p>
          <a:p>
            <a:r>
              <a:rPr lang="es-MX" sz="1200" dirty="0">
                <a:solidFill>
                  <a:schemeClr val="tx2"/>
                </a:solidFill>
              </a:rPr>
              <a:t>Bajo </a:t>
            </a:r>
            <a:r>
              <a:rPr lang="es-MX" sz="1200" dirty="0" err="1">
                <a:solidFill>
                  <a:schemeClr val="tx2"/>
                </a:solidFill>
              </a:rPr>
              <a:t>Backlash</a:t>
            </a:r>
            <a:r>
              <a:rPr lang="es-MX" sz="1200" dirty="0">
                <a:solidFill>
                  <a:schemeClr val="tx2"/>
                </a:solidFill>
              </a:rPr>
              <a:t>: Es fundamental para la precisión del control de posición.</a:t>
            </a:r>
          </a:p>
          <a:p>
            <a:r>
              <a:rPr lang="es-MX" sz="1200" dirty="0" err="1">
                <a:solidFill>
                  <a:schemeClr val="tx2"/>
                </a:solidFill>
              </a:rPr>
              <a:t>Coaxialidad</a:t>
            </a:r>
            <a:r>
              <a:rPr lang="es-MX" sz="1200" dirty="0">
                <a:solidFill>
                  <a:schemeClr val="tx2"/>
                </a:solidFill>
              </a:rPr>
              <a:t>: La entrada y la salida están en el mismo eje</a:t>
            </a:r>
          </a:p>
        </p:txBody>
      </p:sp>
    </p:spTree>
    <p:extLst>
      <p:ext uri="{BB962C8B-B14F-4D97-AF65-F5344CB8AC3E}">
        <p14:creationId xmlns:p14="http://schemas.microsoft.com/office/powerpoint/2010/main" val="798428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9F0AF2-0DA9-4B15-4B40-DC5623637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MX" dirty="0"/>
              <a:t>Modelo Matemático: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FC07FF8-1238-F37B-C146-45822D1CA92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449206" y="1864194"/>
                <a:ext cx="4488654" cy="4252521"/>
              </a:xfrm>
            </p:spPr>
            <p:txBody>
              <a:bodyPr>
                <a:noAutofit/>
              </a:bodyPr>
              <a:lstStyle/>
              <a:p>
                <a:r>
                  <a:rPr lang="es-MX" dirty="0"/>
                  <a:t>Modelo Mecánico</a:t>
                </a:r>
              </a:p>
              <a:p>
                <a:r>
                  <a:rPr lang="es-MX" sz="1200" dirty="0"/>
                  <a:t>Modelo de la carga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s-MX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s-MX" sz="120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s-MX" sz="12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s-MX" sz="1200" i="1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s-MX" sz="1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12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sz="120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s-MX" sz="12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s-MX" sz="1200" i="1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𝑐𝑚</m:t>
                          </m:r>
                        </m:sub>
                      </m:sSub>
                    </m:oMath>
                  </m:oMathPara>
                </a14:m>
                <a:endParaRPr lang="es-MX" sz="1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sz="1200" i="1" dirty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s-MX" sz="1200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1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MX" sz="1200" i="1" dirty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s-MX" sz="1200" i="1" dirty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s-MX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2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s-MX" sz="1200" i="1" dirty="0">
                                  <a:latin typeface="Cambria Math" panose="02040503050406030204" pitchFamily="18" charset="0"/>
                                </a:rPr>
                                <m:t>𝑝𝑖𝑡𝑐h</m:t>
                              </m:r>
                            </m:sub>
                          </m:sSub>
                          <m:r>
                            <a:rPr lang="es-MX" sz="1200" i="1" dirty="0">
                              <a:latin typeface="Cambria Math" panose="02040503050406030204" pitchFamily="18" charset="0"/>
                            </a:rPr>
                            <m:t> </m:t>
                          </m:r>
                          <m:func>
                            <m:funcPr>
                              <m:ctrlPr>
                                <a:rPr lang="es-MX" sz="1200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MX" sz="1200" i="0" dirty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s-MX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MX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1200" i="1" dirty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s-MX" sz="1200" i="1" dirty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s-MX" sz="1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MX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2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s-MX" sz="1200" i="1" dirty="0">
                                  <a:latin typeface="Cambria Math" panose="02040503050406030204" pitchFamily="18" charset="0"/>
                                </a:rPr>
                                <m:t>𝑝𝑖𝑡𝑐h</m:t>
                              </m:r>
                            </m:sub>
                          </m:sSub>
                          <m:r>
                            <a:rPr lang="es-MX" sz="1200" i="1" dirty="0">
                              <a:latin typeface="Cambria Math" panose="02040503050406030204" pitchFamily="18" charset="0"/>
                            </a:rPr>
                            <m:t> </m:t>
                          </m:r>
                          <m:sSub>
                            <m:sSubPr>
                              <m:ctrlPr>
                                <a:rPr lang="es-MX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2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s-MX" sz="1200" i="1" dirty="0">
                                  <a:latin typeface="Cambria Math" panose="02040503050406030204" pitchFamily="18" charset="0"/>
                                </a:rPr>
                                <m:t>𝑟𝑜𝑙𝑙</m:t>
                              </m:r>
                            </m:sub>
                          </m:sSub>
                          <m:r>
                            <a:rPr lang="es-MX" sz="1200" i="1" dirty="0">
                              <a:latin typeface="Cambria Math" panose="02040503050406030204" pitchFamily="18" charset="0"/>
                            </a:rPr>
                            <m:t> </m:t>
                          </m:r>
                          <m:func>
                            <m:funcPr>
                              <m:ctrlPr>
                                <a:rPr lang="es-MX" sz="1200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MX" sz="1200" i="0" dirty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s-MX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MX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1200" i="1" dirty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s-MX" sz="1200" i="1" dirty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s-MX" sz="1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acc>
                        <m:accPr>
                          <m:chr m:val="̇"/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s-MX" sz="1200" i="1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d>
                        <m:d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MX" sz="1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MX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sz="1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MX" sz="1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MX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MX" sz="1200" i="1">
                          <a:latin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s-MX" sz="1200" i="1" dirty="0">
                  <a:latin typeface="Cambria Math" panose="02040503050406030204" pitchFamily="18" charset="0"/>
                </a:endParaRPr>
              </a:p>
              <a:p>
                <a:r>
                  <a:rPr lang="es-MX" sz="1200" dirty="0"/>
                  <a:t>Modelo de la transmisión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MX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sSub>
                        <m:sSub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MX" sz="1200" i="1">
                          <a:latin typeface="Cambria Math" panose="02040503050406030204" pitchFamily="18" charset="0"/>
                        </a:rPr>
                        <m:t>; </m:t>
                      </m:r>
                      <m:sSub>
                        <m:sSub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d>
                        <m:d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MX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1200" i="1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s-MX" sz="1200" dirty="0"/>
              </a:p>
              <a:p>
                <a:r>
                  <a:rPr lang="es-MX" sz="1200" dirty="0"/>
                  <a:t>Modelo del motor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MX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MX" sz="1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MX" sz="1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s-MX" sz="1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MX" sz="1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MX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MX" sz="1200" i="1">
                          <a:latin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s-MX" sz="1200" i="1" dirty="0">
                  <a:latin typeface="Cambria Math" panose="02040503050406030204" pitchFamily="18" charset="0"/>
                </a:endParaRPr>
              </a:p>
              <a:p>
                <a:r>
                  <a:rPr lang="es-MX" sz="1200" dirty="0"/>
                  <a:t>Modelo equivalente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2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MX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20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s-MX" sz="120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s-MX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2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s-MX" sz="120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MX" sz="12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MX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MX" sz="1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s-MX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s-MX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s-MX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  <m:d>
                            <m:dPr>
                              <m:ctrlPr>
                                <a:rPr lang="es-MX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s-MX" sz="1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es-MX" sz="1200" b="0" i="1" smtClean="0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sSub>
                                <m:sSubPr>
                                  <m:ctrlPr>
                                    <a:rPr lang="es-MX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s-MX" sz="12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MX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MX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s-MX" sz="12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MX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s-MX" sz="12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FC07FF8-1238-F37B-C146-45822D1CA9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449206" y="1864194"/>
                <a:ext cx="4488654" cy="4252521"/>
              </a:xfrm>
              <a:blipFill>
                <a:blip r:embed="rId2"/>
                <a:stretch>
                  <a:fillRect l="-1223" t="-14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08B4DEC7-962C-EA12-132D-89C97E273CC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254142" y="1864194"/>
                <a:ext cx="4488654" cy="3995068"/>
              </a:xfrm>
            </p:spPr>
            <p:txBody>
              <a:bodyPr>
                <a:noAutofit/>
              </a:bodyPr>
              <a:lstStyle/>
              <a:p>
                <a:r>
                  <a:rPr lang="es-MX" dirty="0"/>
                  <a:t>Modelo Electromagnético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2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MX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20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MX" sz="12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d>
                            <m:dPr>
                              <m:ctrlPr>
                                <a:rPr lang="es-MX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2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s-MX" sz="120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MX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r>
                        <a:rPr lang="es-MX" sz="1200" b="0" i="1" smtClean="0">
                          <a:latin typeface="Cambria Math" panose="02040503050406030204" pitchFamily="18" charset="0"/>
                        </a:rPr>
                        <m:t> (</m:t>
                      </m:r>
                      <m:sSub>
                        <m:sSubPr>
                          <m:ctrlPr>
                            <a:rPr lang="es-MX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s-MX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s-MX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MX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MX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MX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MX" sz="1200" b="0" i="1" smtClean="0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s-MX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MX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s-MX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MX" sz="1200" b="0" i="1" smtClean="0">
                          <a:latin typeface="Cambria Math" panose="02040503050406030204" pitchFamily="18" charset="0"/>
                        </a:rPr>
                        <m:t>−2 </m:t>
                      </m:r>
                      <m:sSub>
                        <m:sSubPr>
                          <m:ctrlPr>
                            <a:rPr lang="es-MX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s-MX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s-MX" sz="1200" b="0" i="1" smtClean="0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s-MX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MX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s-MX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d>
                            <m:dPr>
                              <m:ctrlPr>
                                <a:rPr lang="es-MX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sSub>
                        <m:sSubPr>
                          <m:ctrlPr>
                            <a:rPr lang="es-MX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s-MX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s-MX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MX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sz="12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MX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MX" sz="1200" b="0" i="1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  <m:d>
                            <m:dPr>
                              <m:ctrlPr>
                                <a:rPr lang="es-MX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MX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r>
                        <a:rPr lang="es-MX" sz="1200" i="1">
                          <a:latin typeface="Cambria Math" panose="02040503050406030204" pitchFamily="18" charset="0"/>
                        </a:rPr>
                        <m:t> (</m:t>
                      </m:r>
                      <m:sSub>
                        <m:sSub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MX" sz="12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d>
                        <m:d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MX" sz="1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MX" sz="12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s-MX" sz="1200" i="1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MX" sz="12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d>
                        <m:d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MX" sz="1200" i="1">
                          <a:latin typeface="Cambria Math" panose="02040503050406030204" pitchFamily="18" charset="0"/>
                        </a:rPr>
                        <m:t>−2 </m:t>
                      </m:r>
                      <m:sSub>
                        <m:sSub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s-MX" sz="1200" i="1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MX" sz="12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d>
                        <m:d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𝜃</m:t>
                          </m:r>
                          <m:d>
                            <m:dPr>
                              <m:ctrlPr>
                                <a:rPr lang="es-MX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sSub>
                        <m:sSub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MX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sz="1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MX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MX" sz="1200" b="0" i="1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sub>
                          </m:sSub>
                          <m:d>
                            <m:dPr>
                              <m:ctrlPr>
                                <a:rPr lang="es-MX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MX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r>
                        <a:rPr lang="es-MX" sz="1200" i="1">
                          <a:latin typeface="Cambria Math" panose="02040503050406030204" pitchFamily="18" charset="0"/>
                        </a:rPr>
                        <m:t> (</m:t>
                      </m:r>
                      <m:sSub>
                        <m:sSub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MX" sz="1200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d>
                        <m:d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MX" sz="1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MX" sz="1200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s-MX" sz="1200" i="1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MX" sz="1200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d>
                        <m:d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MX" sz="1200" i="1">
                          <a:latin typeface="Cambria Math" panose="02040503050406030204" pitchFamily="18" charset="0"/>
                        </a:rPr>
                        <m:t>−2 </m:t>
                      </m:r>
                      <m:sSub>
                        <m:sSub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s-MX" sz="1200" i="1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MX" sz="1200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d>
                        <m:d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𝜃</m:t>
                          </m:r>
                          <m:d>
                            <m:dPr>
                              <m:ctrlPr>
                                <a:rPr lang="es-MX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sSub>
                        <m:sSub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MX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sz="1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08B4DEC7-962C-EA12-132D-89C97E273C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254142" y="1864194"/>
                <a:ext cx="4488654" cy="3995068"/>
              </a:xfrm>
              <a:blipFill>
                <a:blip r:embed="rId3"/>
                <a:stretch>
                  <a:fillRect l="-1223" t="-15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2430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B860E14-A875-D110-6930-748D5ADC0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MX" dirty="0"/>
              <a:t>Linealización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Marcador de contenido 3">
                <a:extLst>
                  <a:ext uri="{FF2B5EF4-FFF2-40B4-BE49-F238E27FC236}">
                    <a16:creationId xmlns:a16="http://schemas.microsoft.com/office/drawing/2014/main" id="{0C38CA96-BA87-398C-8EDF-FF2EF14D26B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49206" y="1853753"/>
                <a:ext cx="5546398" cy="236193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800" kern="1200" cap="none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400" kern="1200" cap="none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MX" dirty="0"/>
                  <a:t>Linealización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MX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s-MX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MX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s-MX" sz="1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𝑑𝑖</m:t>
                          </m:r>
                          <m:d>
                            <m:dPr>
                              <m:ctrlPr>
                                <a:rPr lang="es-MX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MX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s-MX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s-MX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MX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s-MX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f>
                        <m:fPr>
                          <m:ctrlPr>
                            <a:rPr lang="es-MX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MX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s-MX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MX" sz="12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MX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MX" sz="1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MX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</m:den>
                      </m:f>
                      <m:r>
                        <a:rPr lang="es-MX" sz="1200" i="1">
                          <a:latin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MX" sz="12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MX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s-MX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s-MX" sz="1200" i="1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d>
                        <m:dPr>
                          <m:ctrlPr>
                            <a:rPr lang="es-MX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MX" sz="1200" i="1" dirty="0" smtClean="0">
                          <a:latin typeface="Cambria Math" panose="02040503050406030204" pitchFamily="18" charset="0"/>
                        </a:rPr>
                        <m:t>; 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 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s-MX" sz="1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s-MX" sz="1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s-MX" sz="1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Marcador de contenido 3">
                <a:extLst>
                  <a:ext uri="{FF2B5EF4-FFF2-40B4-BE49-F238E27FC236}">
                    <a16:creationId xmlns:a16="http://schemas.microsoft.com/office/drawing/2014/main" id="{0C38CA96-BA87-398C-8EDF-FF2EF14D2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206" y="1853753"/>
                <a:ext cx="5546398" cy="2361933"/>
              </a:xfrm>
              <a:prstGeom prst="rect">
                <a:avLst/>
              </a:prstGeom>
              <a:blipFill>
                <a:blip r:embed="rId2"/>
                <a:stretch>
                  <a:fillRect l="-98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Marcador de contenido 3">
                <a:extLst>
                  <a:ext uri="{FF2B5EF4-FFF2-40B4-BE49-F238E27FC236}">
                    <a16:creationId xmlns:a16="http://schemas.microsoft.com/office/drawing/2014/main" id="{74A1DBC5-6CF4-F208-38FE-1CA6592C61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49206" y="4215687"/>
                <a:ext cx="5990281" cy="183779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800" kern="1200" cap="none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400" kern="1200" cap="none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MX" dirty="0"/>
                  <a:t>Función de Transferencia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d>
                        <m:dPr>
                          <m:ctrlPr>
                            <a:rPr lang="pt-B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pt-BR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sz="1200" i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pt-BR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  <m:sSup>
                            <m:sSup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𝑒𝑞</m:t>
                                  </m:r>
                                </m:sub>
                              </m:sSub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𝑒𝑞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𝑒𝑞</m:t>
                                  </m:r>
                                </m:sub>
                              </m:sSub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e>
                          </m:d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s-MX" sz="1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pt-B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pt-BR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sz="1200" i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pt-BR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  <m:sSup>
                            <m:sSup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𝑒𝑞</m:t>
                                  </m:r>
                                </m:sub>
                              </m:sSub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𝑒𝑞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𝑒𝑞</m:t>
                                  </m:r>
                                </m:sub>
                              </m:sSub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s-MX" sz="1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Marcador de contenido 3">
                <a:extLst>
                  <a:ext uri="{FF2B5EF4-FFF2-40B4-BE49-F238E27FC236}">
                    <a16:creationId xmlns:a16="http://schemas.microsoft.com/office/drawing/2014/main" id="{74A1DBC5-6CF4-F208-38FE-1CA6592C6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206" y="4215687"/>
                <a:ext cx="5990281" cy="1837794"/>
              </a:xfrm>
              <a:prstGeom prst="rect">
                <a:avLst/>
              </a:prstGeom>
              <a:blipFill>
                <a:blip r:embed="rId3"/>
                <a:stretch>
                  <a:fillRect l="-916" t="-33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Imagen 17">
            <a:extLst>
              <a:ext uri="{FF2B5EF4-FFF2-40B4-BE49-F238E27FC236}">
                <a16:creationId xmlns:a16="http://schemas.microsoft.com/office/drawing/2014/main" id="{6A5066B7-85B9-8678-F21D-30A80C262E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7614" y="804519"/>
            <a:ext cx="4092920" cy="371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829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8BB7-D705-C7FD-B5BA-7E7878DE4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MX" dirty="0"/>
              <a:t>Diseño de controlador de movimiento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F66111-40C1-E3FC-649D-B1C604CE6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5289" y="1853754"/>
            <a:ext cx="4375132" cy="4199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600" dirty="0"/>
              <a:t>El diseño del controlador consiste de tres etapas:</a:t>
            </a:r>
          </a:p>
          <a:p>
            <a:r>
              <a:rPr lang="es-AR" sz="1200" dirty="0"/>
              <a:t>Linealización por Realimentación</a:t>
            </a:r>
          </a:p>
          <a:p>
            <a:r>
              <a:rPr lang="es-AR" sz="1200" dirty="0"/>
              <a:t>Modulador de Torque con Lazo de Corriente</a:t>
            </a:r>
          </a:p>
          <a:p>
            <a:r>
              <a:rPr lang="es-AR" sz="1200" dirty="0"/>
              <a:t>Controlador de Movimiento PID</a:t>
            </a:r>
          </a:p>
          <a:p>
            <a:pPr marL="0" indent="0">
              <a:buNone/>
            </a:pPr>
            <a:endParaRPr lang="es-AR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47100B4-C08F-A068-8266-3D0D56041DEE}"/>
              </a:ext>
            </a:extLst>
          </p:cNvPr>
          <p:cNvSpPr txBox="1">
            <a:spLocks/>
          </p:cNvSpPr>
          <p:nvPr/>
        </p:nvSpPr>
        <p:spPr>
          <a:xfrm>
            <a:off x="1450393" y="1853754"/>
            <a:ext cx="4275704" cy="41997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1700" dirty="0"/>
              <a:t>Se decide diseñar un control en cascada:</a:t>
            </a:r>
          </a:p>
          <a:p>
            <a:r>
              <a:rPr lang="es-MX" sz="1300" dirty="0"/>
              <a:t>Permite tratar la parte eléctrica (rápida) y la mecánica (lenta) de forma independiente.</a:t>
            </a:r>
            <a:r>
              <a:rPr lang="es-AR" sz="1300" dirty="0"/>
              <a:t>Modulador de Torque con Lazo de Corriente</a:t>
            </a:r>
          </a:p>
          <a:p>
            <a:r>
              <a:rPr lang="es-MX" sz="1300" dirty="0"/>
              <a:t>Es mucho más robusto frente a variaciones de carga o fricción, cualquier error en el torque se detecta y corrige internamente antes de que se desvíe la trayectoria del codo.</a:t>
            </a:r>
          </a:p>
          <a:p>
            <a:r>
              <a:rPr lang="es-MX" sz="1300" dirty="0"/>
              <a:t>Facilita la inserción de bloques de desacople (como la compensación gravitatoria) entre ambos lazos, permitiendo que el control de velocidad opere sobre un sistema que parece lineal.</a:t>
            </a:r>
            <a:endParaRPr lang="es-AR" sz="1300" dirty="0"/>
          </a:p>
        </p:txBody>
      </p:sp>
    </p:spTree>
    <p:extLst>
      <p:ext uri="{BB962C8B-B14F-4D97-AF65-F5344CB8AC3E}">
        <p14:creationId xmlns:p14="http://schemas.microsoft.com/office/powerpoint/2010/main" val="1784618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BC80F3-BC5E-26A7-6B53-72BF455C3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MX" dirty="0"/>
              <a:t>Lazo de control de corriente</a:t>
            </a:r>
            <a:endParaRPr lang="es-AR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B7081C32-C133-2E89-0480-2BEE6708FBAC}"/>
              </a:ext>
            </a:extLst>
          </p:cNvPr>
          <p:cNvSpPr txBox="1">
            <a:spLocks/>
          </p:cNvSpPr>
          <p:nvPr/>
        </p:nvSpPr>
        <p:spPr>
          <a:xfrm>
            <a:off x="1449206" y="1853754"/>
            <a:ext cx="4363295" cy="41009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AR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B3B672C-8B31-DEB8-F927-8B2E0B1DAE6E}"/>
              </a:ext>
            </a:extLst>
          </p:cNvPr>
          <p:cNvSpPr txBox="1"/>
          <p:nvPr/>
        </p:nvSpPr>
        <p:spPr>
          <a:xfrm>
            <a:off x="6377126" y="1853754"/>
            <a:ext cx="4363295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/>
              <a:t>Analizando la ecuación podemos afirmar que:</a:t>
            </a:r>
          </a:p>
          <a:p>
            <a:endParaRPr lang="es-AR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200" dirty="0"/>
              <a:t>La </a:t>
            </a:r>
            <a:r>
              <a:rPr lang="es-AR" sz="1200" dirty="0" err="1"/>
              <a:t>funcion</a:t>
            </a:r>
            <a:r>
              <a:rPr lang="es-AR" sz="1200" dirty="0"/>
              <a:t> de transferencia es de primer orden y no posee ceros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200" dirty="0"/>
              <a:t>Los parámetros del denominador son binomios de términos positivos, por ende el polo es negativo.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200" dirty="0"/>
              <a:t>Consecuentemente, el lazo de corriente es estable y el modulador no produce inestabilidades en el sistema.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200" dirty="0"/>
              <a:t>El lazo de control posee la típica forma de un filtro pasa bajos de la forma Gi(s)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Marcador de contenido 2">
                <a:extLst>
                  <a:ext uri="{FF2B5EF4-FFF2-40B4-BE49-F238E27FC236}">
                    <a16:creationId xmlns:a16="http://schemas.microsoft.com/office/drawing/2014/main" id="{C99180B1-BD7D-7E76-276B-DAA512A3C2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49205" y="1853754"/>
                <a:ext cx="4363295" cy="3664297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f>
                        <m:f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𝑑𝑖</m:t>
                          </m:r>
                          <m:d>
                            <m:d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600" i="1">
                          <a:latin typeface="Cambria Math" panose="02040503050406030204" pitchFamily="18" charset="0"/>
                        </a:rPr>
                        <m:t>≈</m:t>
                      </m:r>
                      <m:sSubSup>
                        <m:sSubSup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1600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MX" sz="16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fr-FR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fr-FR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>
                            <m:f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den>
                          </m:f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s-MX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160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s-AR" sz="1600" i="1" smtClean="0">
                          <a:latin typeface="Cambria Math" panose="02040503050406030204" pitchFamily="18" charset="0"/>
                        </a:rPr>
                        <m:t>=−1</m:t>
                      </m:r>
                      <m:r>
                        <m:rPr>
                          <m:lit/>
                        </m:rPr>
                        <a:rPr lang="es-AR" sz="160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s-AR" sz="16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A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m:rPr>
                          <m:lit/>
                        </m:rPr>
                        <a:rPr lang="es-AR" sz="1600" i="1"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es-A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s-MX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s-MX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=−5000;</m:t>
                      </m:r>
                      <m:d>
                        <m:dPr>
                          <m:ctrlPr>
                            <a:rPr lang="es-MX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𝐵𝑊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≈800</m:t>
                          </m:r>
                        </m:e>
                      </m:d>
                    </m:oMath>
                  </m:oMathPara>
                </a14:m>
                <a:endParaRPr lang="es-MX" sz="1600" b="0" dirty="0"/>
              </a:p>
              <a:p>
                <a:pPr marL="0" indent="0">
                  <a:buNone/>
                </a:pPr>
                <a:endParaRPr lang="es-MX" sz="1600" b="0" dirty="0"/>
              </a:p>
              <a:p>
                <a:pPr marL="0" indent="0">
                  <a:buNone/>
                </a:pPr>
                <a:endParaRPr lang="es-AR" dirty="0"/>
              </a:p>
            </p:txBody>
          </p:sp>
        </mc:Choice>
        <mc:Fallback xmlns="">
          <p:sp>
            <p:nvSpPr>
              <p:cNvPr id="9" name="Marcador de contenido 2">
                <a:extLst>
                  <a:ext uri="{FF2B5EF4-FFF2-40B4-BE49-F238E27FC236}">
                    <a16:creationId xmlns:a16="http://schemas.microsoft.com/office/drawing/2014/main" id="{C99180B1-BD7D-7E76-276B-DAA512A3C2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49205" y="1853754"/>
                <a:ext cx="4363295" cy="366429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5936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6C9AF2-4CEE-4F8D-E476-B669E06BB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MX" dirty="0"/>
              <a:t>Controlador de movimiento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27C76A5-9F69-0336-929A-9EFE0C5DBD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MX" sz="1600" dirty="0"/>
                  <a:t>Modelo del controlador: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AR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s-A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AR" sz="1600" i="1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es-A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s-A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s-A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s-AR" sz="160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s-AR" sz="16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s-AR" sz="1600" i="1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s-A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lit/>
                            </m:rPr>
                            <a:rPr lang="es-AR" sz="16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s-AR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A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s-A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s-AR" sz="1600" i="1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s-A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m:rPr>
                              <m:lit/>
                            </m:rPr>
                            <a:rPr lang="es-AR" sz="16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s-AR" sz="16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A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A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16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s-AR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s-A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s-AR" sz="1600" i="1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s-A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lit/>
                            </m:rPr>
                            <a:rPr lang="es-AR" sz="16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pt-BR" sz="16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pt-BR" sz="16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s-AR" dirty="0"/>
              </a:p>
              <a:p>
                <a:pPr marL="0" indent="0">
                  <a:buNone/>
                </a:pPr>
                <a:r>
                  <a:rPr lang="es-AR" sz="1600" dirty="0"/>
                  <a:t>Polinomio característico: (</a:t>
                </a:r>
                <a14:m>
                  <m:oMath xmlns:m="http://schemas.openxmlformats.org/officeDocument/2006/math"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=2.5; </m:t>
                    </m:r>
                    <m:sSub>
                      <m:sSubPr>
                        <m:ctrlPr>
                          <a:rPr lang="es-MX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𝑝𝑜𝑠</m:t>
                        </m:r>
                      </m:sub>
                    </m:sSub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=800 </m:t>
                    </m:r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𝑟𝑎𝑑</m:t>
                    </m:r>
                    <m:r>
                      <m:rPr>
                        <m:lit/>
                      </m:rPr>
                      <a:rPr lang="es-MX" sz="16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s-AR" sz="1600" dirty="0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AR" sz="1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A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s-AR" sz="1600" i="1">
                          <a:latin typeface="Cambria Math" panose="02040503050406030204" pitchFamily="18" charset="0"/>
                        </a:rPr>
                        <m:t>= </m:t>
                      </m:r>
                      <m:sSup>
                        <m:sSupPr>
                          <m:ctrlPr>
                            <a:rPr lang="es-A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AR" sz="1600" i="1">
                          <a:latin typeface="Cambria Math" panose="02040503050406030204" pitchFamily="18" charset="0"/>
                        </a:rPr>
                        <m:t> +</m:t>
                      </m:r>
                      <m:f>
                        <m:fPr>
                          <m:ctrlPr>
                            <a:rPr lang="es-A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A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16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AR" sz="16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m:rPr>
                                  <m:lit/>
                                </m:rPr>
                                <a:rPr lang="es-AR" sz="1600" i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s-AR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 </m:t>
                          </m:r>
                          <m:sSup>
                            <m:sSupPr>
                              <m:ctrlPr>
                                <a:rPr lang="es-A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s-A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s-A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16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s-AR" sz="1600" i="1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</m:den>
                      </m:f>
                      <m:r>
                        <a:rPr lang="es-AR" sz="16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A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A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16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AR" sz="1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m:rPr>
                                  <m:lit/>
                                </m:rPr>
                                <a:rPr lang="es-AR" sz="1600" i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s-AR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sSub>
                            <m:sSubPr>
                              <m:ctrlPr>
                                <a:rPr lang="es-A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16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s-AR" sz="1600" i="1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</m:den>
                      </m:f>
                      <m:r>
                        <a:rPr lang="es-AR" sz="16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A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A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16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AR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lit/>
                                </m:rPr>
                                <a:rPr lang="es-AR" sz="1600" i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s-AR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A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16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s-AR" sz="1600" i="1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</m:den>
                      </m:f>
                      <m:r>
                        <a:rPr lang="es-MX" sz="1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sz="16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MX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160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s-MX" sz="16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MX" sz="1600" i="1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s-MX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MX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16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s-MX" sz="160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s-MX" sz="16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MX" sz="1600" i="1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es-MX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s-MX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6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s-MX" sz="1600" i="1">
                                  <a:latin typeface="Cambria Math" panose="02040503050406030204" pitchFamily="18" charset="0"/>
                                </a:rPr>
                                <m:t>𝑝𝑜𝑠</m:t>
                              </m:r>
                            </m:sub>
                          </m:sSub>
                        </m:e>
                        <m:sup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16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MX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s-MX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6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s-MX" sz="1600" i="1">
                                  <a:latin typeface="Cambria Math" panose="02040503050406030204" pitchFamily="18" charset="0"/>
                                </a:rPr>
                                <m:t>𝑝𝑜𝑠</m:t>
                              </m:r>
                            </m:sub>
                          </m:sSub>
                        </m:e>
                        <m:sup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AR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lit/>
                            </m:rPr>
                            <a:rPr lang="es-AR" sz="16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s-A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r>
                        <a:rPr lang="es-AR" sz="160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s-AR" sz="16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AR" sz="1600" i="1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s-A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AR" sz="1600" i="1">
                          <a:latin typeface="Cambria Math" panose="02040503050406030204" pitchFamily="18" charset="0"/>
                        </a:rPr>
                        <m:t> ; </m:t>
                      </m:r>
                      <m:sSub>
                        <m:sSubPr>
                          <m:ctrlPr>
                            <a:rPr lang="es-A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m:rPr>
                              <m:lit/>
                            </m:rPr>
                            <a:rPr lang="es-AR" sz="16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s-A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r>
                        <a:rPr lang="es-AR" sz="160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s-AR" sz="16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AR" sz="1600" i="1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es-A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s-A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16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s-AR" sz="1600" i="1">
                                  <a:latin typeface="Cambria Math" panose="02040503050406030204" pitchFamily="18" charset="0"/>
                                </a:rPr>
                                <m:t>𝑝𝑜𝑠</m:t>
                              </m:r>
                            </m:sub>
                          </m:sSub>
                        </m:e>
                        <m:sup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1600" i="1">
                          <a:latin typeface="Cambria Math" panose="02040503050406030204" pitchFamily="18" charset="0"/>
                        </a:rPr>
                        <m:t> ; </m:t>
                      </m:r>
                      <m:sSub>
                        <m:sSubPr>
                          <m:ctrlPr>
                            <a:rPr lang="es-A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lit/>
                            </m:rPr>
                            <a:rPr lang="es-AR" sz="16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s-A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r>
                        <a:rPr lang="es-AR" sz="1600" i="1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es-A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s-A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16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s-AR" sz="1600" i="1">
                                  <a:latin typeface="Cambria Math" panose="02040503050406030204" pitchFamily="18" charset="0"/>
                                </a:rPr>
                                <m:t>𝑝𝑜𝑠</m:t>
                              </m:r>
                            </m:sub>
                          </m:sSub>
                        </m:e>
                        <m:sup>
                          <m:r>
                            <a:rPr lang="es-AR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AR" sz="1600" dirty="0"/>
              </a:p>
              <a:p>
                <a:pPr marL="0" indent="0">
                  <a:buNone/>
                </a:pPr>
                <a:endParaRPr lang="es-AR" sz="16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27C76A5-9F69-0336-929A-9EFE0C5DBD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2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1297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36E340-0C9C-65B7-2423-E9410C26D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MX" dirty="0"/>
              <a:t>Observador con acción integral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3DF9136-6982-3C25-75AA-1EB90D1259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51579" y="2015732"/>
                <a:ext cx="9291215" cy="412761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1400" dirty="0"/>
                  <a:t>Este observador nos servirá para conocer la posición y la velocidad del sistema sin error de estado estacionario.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MX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̂"/>
                              <m:ctrlPr>
                                <a:rPr lang="es-MX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1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acc>
                      <m:d>
                        <m:dPr>
                          <m:ctrlPr>
                            <a:rPr lang="es-MX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MX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MX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s-MX" sz="1400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s-MX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  <m:d>
                            <m:dPr>
                              <m:ctrlPr>
                                <a:rPr lang="es-MX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s-MX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s-MX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1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d>
                            <m:dPr>
                              <m:ctrlPr>
                                <a:rPr lang="es-MX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s-MX" sz="1400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es-MX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MX" sz="1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acc>
                      <m:d>
                        <m:dPr>
                          <m:ctrlPr>
                            <a:rPr lang="es-MX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s-MX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MX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̂"/>
                              <m:ctrlPr>
                                <a:rPr lang="es-MX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1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acc>
                        </m:e>
                      </m:acc>
                      <m:d>
                        <m:dPr>
                          <m:ctrlPr>
                            <a:rPr lang="es-MX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MX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MX" sz="1400" i="1"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r>
                        <a:rPr lang="es-MX" sz="1400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s-MX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  <m:d>
                            <m:dPr>
                              <m:ctrlPr>
                                <a:rPr lang="es-MX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s-MX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s-MX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1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d>
                            <m:dPr>
                              <m:ctrlPr>
                                <a:rPr lang="es-MX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s-MX" sz="1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MX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s-MX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MX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MX" sz="1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s-MX" sz="14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s-MX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s-MX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4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s-MX" sz="1400" i="1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</m:den>
                      </m:f>
                      <m:r>
                        <a:rPr lang="es-MX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MX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sz="1400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s-MX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MX" sz="1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d>
                        <m:dPr>
                          <m:ctrlPr>
                            <a:rPr lang="es-MX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s-MX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de-DE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̂"/>
                              <m:ctrlPr>
                                <a:rPr lang="de-DE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</m:acc>
                      <m:d>
                        <m:dPr>
                          <m:ctrlPr>
                            <a:rPr lang="de-D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  <m:d>
                            <m:dPr>
                              <m:ctrlPr>
                                <a:rPr lang="de-DE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de-DE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d>
                            <m:dPr>
                              <m:ctrlPr>
                                <a:rPr lang="de-DE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MX" sz="1400" dirty="0"/>
              </a:p>
              <a:p>
                <a:pPr marL="0" indent="0">
                  <a:buNone/>
                </a:pPr>
                <a:r>
                  <a:rPr lang="es-AR" sz="1400" dirty="0"/>
                  <a:t>Polinomio característico: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AR" sz="140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s-A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s-AR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s-A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AR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s-AR" sz="1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s-AR" sz="1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AR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AR" sz="1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AR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14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s-A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s-AR" sz="1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sz="1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s-AR" sz="14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s-A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r>
                        <a:rPr lang="es-AR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A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AR" sz="1400" dirty="0"/>
              </a:p>
              <a:p>
                <a:pPr marL="0" indent="0">
                  <a:buNone/>
                </a:pPr>
                <a:r>
                  <a:rPr lang="es-MX" sz="1400" dirty="0"/>
                  <a:t>Como tenemos un sistema de tercer orden, buscaremos tener polos reales e iguales de manera que no interfiera con el controlador y sea capaz de asegurarnos un comportamiento rápido del observador. </a:t>
                </a:r>
              </a:p>
              <a:p>
                <a:pPr marL="0" indent="0">
                  <a:buNone/>
                </a:pPr>
                <a:r>
                  <a:rPr lang="es-MX" sz="1400" dirty="0"/>
                  <a:t>En nuestro caso, p = −5000 rad/s es una buena opción para el observador.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AR" sz="140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s-A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s-AR" sz="1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AR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A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1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s-AR" sz="1400" i="1">
                                  <a:latin typeface="Cambria Math" panose="02040503050406030204" pitchFamily="18" charset="0"/>
                                </a:rPr>
                                <m:t>+5000</m:t>
                              </m:r>
                            </m:e>
                          </m:d>
                        </m:e>
                        <m:sup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AR" sz="1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AR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AR" sz="1400" i="1">
                          <a:latin typeface="Cambria Math" panose="02040503050406030204" pitchFamily="18" charset="0"/>
                        </a:rPr>
                        <m:t>+3 </m:t>
                      </m:r>
                      <m:sSup>
                        <m:sSupPr>
                          <m:ctrlPr>
                            <a:rPr lang="es-AR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140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s-AR" sz="14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AR" sz="1400" i="1">
                          <a:latin typeface="Cambria Math" panose="02040503050406030204" pitchFamily="18" charset="0"/>
                        </a:rPr>
                        <m:t>+3 </m:t>
                      </m:r>
                      <m:r>
                        <a:rPr lang="es-AR" sz="1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s-AR" sz="1400" i="1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es-AR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1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AR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AR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AR" sz="1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AR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14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s-A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s-AR" sz="1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sz="1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s-AR" sz="14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s-A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r>
                        <a:rPr lang="es-AR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A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AR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AR" sz="14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3DF9136-6982-3C25-75AA-1EB90D1259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51579" y="2015732"/>
                <a:ext cx="9291215" cy="4127616"/>
              </a:xfrm>
              <a:blipFill>
                <a:blip r:embed="rId2"/>
                <a:stretch>
                  <a:fillRect l="-19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2330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A1D9F23-B5FD-B6EB-E548-2067602BE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181" y="2904331"/>
            <a:ext cx="9291638" cy="1049337"/>
          </a:xfrm>
        </p:spPr>
        <p:txBody>
          <a:bodyPr>
            <a:normAutofit/>
          </a:bodyPr>
          <a:lstStyle/>
          <a:p>
            <a:r>
              <a:rPr lang="es-MX" sz="4800" dirty="0"/>
              <a:t>Pruebas</a:t>
            </a:r>
            <a:endParaRPr lang="es-AR" sz="4800" dirty="0"/>
          </a:p>
        </p:txBody>
      </p:sp>
    </p:spTree>
    <p:extLst>
      <p:ext uri="{BB962C8B-B14F-4D97-AF65-F5344CB8AC3E}">
        <p14:creationId xmlns:p14="http://schemas.microsoft.com/office/powerpoint/2010/main" val="3570953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>
            <a:extLst>
              <a:ext uri="{FF2B5EF4-FFF2-40B4-BE49-F238E27FC236}">
                <a16:creationId xmlns:a16="http://schemas.microsoft.com/office/drawing/2014/main" id="{12485FFD-29A3-F792-0B80-7086A05E8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991" y="804889"/>
            <a:ext cx="3992793" cy="1059305"/>
          </a:xfrm>
        </p:spPr>
        <p:txBody>
          <a:bodyPr/>
          <a:lstStyle/>
          <a:p>
            <a:r>
              <a:rPr lang="es-MX" dirty="0"/>
              <a:t>Caso 2</a:t>
            </a:r>
            <a:endParaRPr lang="es-AR" dirty="0"/>
          </a:p>
        </p:txBody>
      </p:sp>
      <p:sp>
        <p:nvSpPr>
          <p:cNvPr id="16" name="Título 14">
            <a:extLst>
              <a:ext uri="{FF2B5EF4-FFF2-40B4-BE49-F238E27FC236}">
                <a16:creationId xmlns:a16="http://schemas.microsoft.com/office/drawing/2014/main" id="{6073FF99-7BFE-09CE-97D4-863CE4AA994E}"/>
              </a:ext>
            </a:extLst>
          </p:cNvPr>
          <p:cNvSpPr txBox="1">
            <a:spLocks/>
          </p:cNvSpPr>
          <p:nvPr/>
        </p:nvSpPr>
        <p:spPr>
          <a:xfrm>
            <a:off x="1449217" y="804889"/>
            <a:ext cx="3992793" cy="1059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/>
              <a:t>Caso 1</a:t>
            </a:r>
            <a:endParaRPr lang="es-AR" dirty="0"/>
          </a:p>
        </p:txBody>
      </p:sp>
      <p:pic>
        <p:nvPicPr>
          <p:cNvPr id="22" name="Marcador de contenido 21">
            <a:extLst>
              <a:ext uri="{FF2B5EF4-FFF2-40B4-BE49-F238E27FC236}">
                <a16:creationId xmlns:a16="http://schemas.microsoft.com/office/drawing/2014/main" id="{CD3B8F7E-9E0E-1526-6A72-1403FF8DE6E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40"/>
          <a:stretch>
            <a:fillRect/>
          </a:stretch>
        </p:blipFill>
        <p:spPr>
          <a:xfrm>
            <a:off x="1523610" y="2017713"/>
            <a:ext cx="3844005" cy="4134600"/>
          </a:xfrm>
          <a:prstGeom prst="rect">
            <a:avLst/>
          </a:prstGeom>
        </p:spPr>
      </p:pic>
      <p:pic>
        <p:nvPicPr>
          <p:cNvPr id="24" name="Marcador de contenido 23">
            <a:extLst>
              <a:ext uri="{FF2B5EF4-FFF2-40B4-BE49-F238E27FC236}">
                <a16:creationId xmlns:a16="http://schemas.microsoft.com/office/drawing/2014/main" id="{6D7F0172-375B-5EFC-F00B-F06B283D52F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385" y="2017713"/>
            <a:ext cx="3844004" cy="413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753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941D3250-16CE-08F1-A081-300F2FE35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351" y="704960"/>
            <a:ext cx="7017212" cy="5908904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B4A1676E-57C1-A381-2F3C-E06068495076}"/>
              </a:ext>
            </a:extLst>
          </p:cNvPr>
          <p:cNvSpPr txBox="1"/>
          <p:nvPr/>
        </p:nvSpPr>
        <p:spPr>
          <a:xfrm>
            <a:off x="2110470" y="244136"/>
            <a:ext cx="398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dirty="0"/>
              <a:t>Set-</a:t>
            </a:r>
            <a:r>
              <a:rPr lang="es-MX" dirty="0" err="1"/>
              <a:t>Points</a:t>
            </a:r>
            <a:endParaRPr lang="es-AR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B94DB4E-0879-20A8-70CA-C63A456FD282}"/>
              </a:ext>
            </a:extLst>
          </p:cNvPr>
          <p:cNvSpPr txBox="1"/>
          <p:nvPr/>
        </p:nvSpPr>
        <p:spPr>
          <a:xfrm>
            <a:off x="161360" y="1053294"/>
            <a:ext cx="398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Diagrama de polos</a:t>
            </a:r>
            <a:endParaRPr lang="es-AR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3BACB347-FFAE-97A4-744F-A6767D35A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60" y="1538035"/>
            <a:ext cx="4054989" cy="3679794"/>
          </a:xfrm>
          <a:prstGeom prst="rect">
            <a:avLst/>
          </a:prstGeom>
        </p:spPr>
      </p:pic>
      <p:sp>
        <p:nvSpPr>
          <p:cNvPr id="20" name="Título 14">
            <a:extLst>
              <a:ext uri="{FF2B5EF4-FFF2-40B4-BE49-F238E27FC236}">
                <a16:creationId xmlns:a16="http://schemas.microsoft.com/office/drawing/2014/main" id="{7BB850B0-5A9D-FA71-05E3-59244512C969}"/>
              </a:ext>
            </a:extLst>
          </p:cNvPr>
          <p:cNvSpPr txBox="1">
            <a:spLocks/>
          </p:cNvSpPr>
          <p:nvPr/>
        </p:nvSpPr>
        <p:spPr>
          <a:xfrm>
            <a:off x="161360" y="244136"/>
            <a:ext cx="2681949" cy="5637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MX" dirty="0"/>
              <a:t>Caso 1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946108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3A469-7DBC-1ECD-E114-F05E1C757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4">
            <a:extLst>
              <a:ext uri="{FF2B5EF4-FFF2-40B4-BE49-F238E27FC236}">
                <a16:creationId xmlns:a16="http://schemas.microsoft.com/office/drawing/2014/main" id="{CE590889-B2EE-297C-EC90-FB4EAE82D30C}"/>
              </a:ext>
            </a:extLst>
          </p:cNvPr>
          <p:cNvSpPr txBox="1">
            <a:spLocks/>
          </p:cNvSpPr>
          <p:nvPr/>
        </p:nvSpPr>
        <p:spPr>
          <a:xfrm>
            <a:off x="161360" y="244136"/>
            <a:ext cx="2681949" cy="5637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MX" dirty="0"/>
              <a:t>Caso 1</a:t>
            </a:r>
            <a:endParaRPr lang="es-AR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CC934B6-7B99-F694-3F59-49F0FCE7E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271" y="0"/>
            <a:ext cx="8194729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6A1F4C6-F67E-7751-D3F5-69F91FFA3516}"/>
              </a:ext>
            </a:extLst>
          </p:cNvPr>
          <p:cNvSpPr txBox="1"/>
          <p:nvPr/>
        </p:nvSpPr>
        <p:spPr>
          <a:xfrm>
            <a:off x="161360" y="807868"/>
            <a:ext cx="3593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Corrientes de fase</a:t>
            </a:r>
            <a:endParaRPr lang="es-AR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4548086-FE97-2A6C-AE55-E38C3076C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84" y="1264607"/>
            <a:ext cx="3462670" cy="560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1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344349F-DA29-02E2-49CD-13C999ADBF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9239" y="2218"/>
            <a:ext cx="8072761" cy="6867229"/>
          </a:xfrm>
          <a:prstGeom prst="rect">
            <a:avLst/>
          </a:prstGeom>
        </p:spPr>
      </p:pic>
      <p:sp>
        <p:nvSpPr>
          <p:cNvPr id="6" name="Título 14">
            <a:extLst>
              <a:ext uri="{FF2B5EF4-FFF2-40B4-BE49-F238E27FC236}">
                <a16:creationId xmlns:a16="http://schemas.microsoft.com/office/drawing/2014/main" id="{474B18BA-7B17-CFF8-0E90-FA8EBFA61510}"/>
              </a:ext>
            </a:extLst>
          </p:cNvPr>
          <p:cNvSpPr txBox="1">
            <a:spLocks/>
          </p:cNvSpPr>
          <p:nvPr/>
        </p:nvSpPr>
        <p:spPr>
          <a:xfrm>
            <a:off x="161360" y="244136"/>
            <a:ext cx="2681949" cy="5637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MX" dirty="0"/>
              <a:t>Caso 1</a:t>
            </a:r>
            <a:endParaRPr lang="es-AR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18DD967-AD92-F98D-CD01-4360FAC99F11}"/>
              </a:ext>
            </a:extLst>
          </p:cNvPr>
          <p:cNvSpPr txBox="1"/>
          <p:nvPr/>
        </p:nvSpPr>
        <p:spPr>
          <a:xfrm>
            <a:off x="161360" y="807868"/>
            <a:ext cx="3593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Tensiones de fase</a:t>
            </a:r>
            <a:endParaRPr lang="es-AR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D4DE8BA-6BFD-CD0D-BDB6-92D3C6B12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45" y="1177200"/>
            <a:ext cx="3515553" cy="568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219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8EB9365-AE57-6350-4DE5-AE4601040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8264" y="183404"/>
            <a:ext cx="7646691" cy="6491191"/>
          </a:xfrm>
          <a:prstGeom prst="rect">
            <a:avLst/>
          </a:prstGeom>
        </p:spPr>
      </p:pic>
      <p:sp>
        <p:nvSpPr>
          <p:cNvPr id="6" name="Título 14">
            <a:extLst>
              <a:ext uri="{FF2B5EF4-FFF2-40B4-BE49-F238E27FC236}">
                <a16:creationId xmlns:a16="http://schemas.microsoft.com/office/drawing/2014/main" id="{7DBB2696-C05E-3239-6286-270AEC17ED19}"/>
              </a:ext>
            </a:extLst>
          </p:cNvPr>
          <p:cNvSpPr txBox="1">
            <a:spLocks/>
          </p:cNvSpPr>
          <p:nvPr/>
        </p:nvSpPr>
        <p:spPr>
          <a:xfrm>
            <a:off x="161360" y="244136"/>
            <a:ext cx="2681949" cy="5637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MX" dirty="0"/>
              <a:t>Caso 1</a:t>
            </a:r>
            <a:endParaRPr lang="es-AR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E5342FD-F4EA-C1F0-3EAB-BD46B8D9F4F6}"/>
              </a:ext>
            </a:extLst>
          </p:cNvPr>
          <p:cNvSpPr txBox="1"/>
          <p:nvPr/>
        </p:nvSpPr>
        <p:spPr>
          <a:xfrm>
            <a:off x="161360" y="807868"/>
            <a:ext cx="398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Salidas del sistema vs Set-</a:t>
            </a:r>
            <a:r>
              <a:rPr lang="es-MX" dirty="0" err="1"/>
              <a:t>Points</a:t>
            </a:r>
            <a:r>
              <a:rPr lang="es-MX" dirty="0"/>
              <a:t>:</a:t>
            </a:r>
            <a:endParaRPr lang="es-AR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D2FE7F7-682A-EDDE-30FF-46A68E859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77" y="1755558"/>
            <a:ext cx="3990513" cy="334688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962C7AB8-150B-5523-C56F-4B2D4F3C84CA}"/>
              </a:ext>
            </a:extLst>
          </p:cNvPr>
          <p:cNvSpPr txBox="1"/>
          <p:nvPr/>
        </p:nvSpPr>
        <p:spPr>
          <a:xfrm>
            <a:off x="91819" y="5221549"/>
            <a:ext cx="398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Detalle en velocidad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77279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03947-3FEB-16EE-2573-D5CEA515A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B8F5C46B-9261-D8C0-6918-FA68B68EA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351" y="704960"/>
            <a:ext cx="7017212" cy="5908904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EC5FD06F-02A4-6771-659D-DBB956B079B6}"/>
              </a:ext>
            </a:extLst>
          </p:cNvPr>
          <p:cNvSpPr txBox="1"/>
          <p:nvPr/>
        </p:nvSpPr>
        <p:spPr>
          <a:xfrm>
            <a:off x="2110470" y="244136"/>
            <a:ext cx="398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dirty="0"/>
              <a:t>Set-</a:t>
            </a:r>
            <a:r>
              <a:rPr lang="es-MX" dirty="0" err="1"/>
              <a:t>Points</a:t>
            </a:r>
            <a:endParaRPr lang="es-AR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870F2C1-0048-DC22-2678-09E759F1CB2E}"/>
              </a:ext>
            </a:extLst>
          </p:cNvPr>
          <p:cNvSpPr txBox="1"/>
          <p:nvPr/>
        </p:nvSpPr>
        <p:spPr>
          <a:xfrm>
            <a:off x="161360" y="1053294"/>
            <a:ext cx="398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Diagrama de polos</a:t>
            </a:r>
            <a:endParaRPr lang="es-AR" dirty="0"/>
          </a:p>
        </p:txBody>
      </p:sp>
      <p:sp>
        <p:nvSpPr>
          <p:cNvPr id="20" name="Título 14">
            <a:extLst>
              <a:ext uri="{FF2B5EF4-FFF2-40B4-BE49-F238E27FC236}">
                <a16:creationId xmlns:a16="http://schemas.microsoft.com/office/drawing/2014/main" id="{FD02A50B-77C9-9C0D-31F3-91979FC2C133}"/>
              </a:ext>
            </a:extLst>
          </p:cNvPr>
          <p:cNvSpPr txBox="1">
            <a:spLocks/>
          </p:cNvSpPr>
          <p:nvPr/>
        </p:nvSpPr>
        <p:spPr>
          <a:xfrm>
            <a:off x="161360" y="244136"/>
            <a:ext cx="2681949" cy="5637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MX" dirty="0"/>
              <a:t>Caso 2</a:t>
            </a:r>
            <a:endParaRPr lang="es-AR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54E28DC-32E6-2AFA-49EB-1DD1C08FD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10" y="1514118"/>
            <a:ext cx="4005551" cy="363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816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67A5A-F7C6-38D8-3C40-F0DA0558A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4">
            <a:extLst>
              <a:ext uri="{FF2B5EF4-FFF2-40B4-BE49-F238E27FC236}">
                <a16:creationId xmlns:a16="http://schemas.microsoft.com/office/drawing/2014/main" id="{1D43AD52-F7CC-E366-B53C-11D220C72C4F}"/>
              </a:ext>
            </a:extLst>
          </p:cNvPr>
          <p:cNvSpPr txBox="1">
            <a:spLocks/>
          </p:cNvSpPr>
          <p:nvPr/>
        </p:nvSpPr>
        <p:spPr>
          <a:xfrm>
            <a:off x="161360" y="244136"/>
            <a:ext cx="2681949" cy="5637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MX" dirty="0"/>
              <a:t>Caso 2</a:t>
            </a:r>
            <a:endParaRPr lang="es-AR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DB59933-B44E-B90F-7225-9844BC511ED6}"/>
              </a:ext>
            </a:extLst>
          </p:cNvPr>
          <p:cNvSpPr txBox="1"/>
          <p:nvPr/>
        </p:nvSpPr>
        <p:spPr>
          <a:xfrm>
            <a:off x="161360" y="807868"/>
            <a:ext cx="3593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Corrientes de fase</a:t>
            </a:r>
            <a:endParaRPr lang="es-AR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FA8AA7D-3596-7364-6C23-5F82541EA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84" y="1264607"/>
            <a:ext cx="3462670" cy="560312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758A028-5906-6418-3903-2D079368B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343" y="0"/>
            <a:ext cx="81266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9569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73DAF-A950-44EA-4662-50ED29DE4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4">
            <a:extLst>
              <a:ext uri="{FF2B5EF4-FFF2-40B4-BE49-F238E27FC236}">
                <a16:creationId xmlns:a16="http://schemas.microsoft.com/office/drawing/2014/main" id="{86E53E8E-81F1-C48B-A391-DE5449DD6331}"/>
              </a:ext>
            </a:extLst>
          </p:cNvPr>
          <p:cNvSpPr txBox="1">
            <a:spLocks/>
          </p:cNvSpPr>
          <p:nvPr/>
        </p:nvSpPr>
        <p:spPr>
          <a:xfrm>
            <a:off x="161360" y="244136"/>
            <a:ext cx="2681949" cy="5637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MX" dirty="0"/>
              <a:t>Caso 2</a:t>
            </a:r>
            <a:endParaRPr lang="es-AR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785286E-EDE3-61C6-AE1D-EF7A9F69F64E}"/>
              </a:ext>
            </a:extLst>
          </p:cNvPr>
          <p:cNvSpPr txBox="1"/>
          <p:nvPr/>
        </p:nvSpPr>
        <p:spPr>
          <a:xfrm>
            <a:off x="161360" y="807868"/>
            <a:ext cx="3593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Tensiones de fase</a:t>
            </a:r>
            <a:endParaRPr lang="es-AR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709D5E7-D28A-693C-771E-CE9E919E1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45" y="1177200"/>
            <a:ext cx="3515553" cy="5680800"/>
          </a:xfrm>
          <a:prstGeom prst="rect">
            <a:avLst/>
          </a:prstGeom>
        </p:spPr>
      </p:pic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3D4E1C40-3449-6009-B9AB-5E87BB9D57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73179" y="0"/>
            <a:ext cx="81188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409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0A0E2-09B5-AB44-DC3D-F1F913864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4">
            <a:extLst>
              <a:ext uri="{FF2B5EF4-FFF2-40B4-BE49-F238E27FC236}">
                <a16:creationId xmlns:a16="http://schemas.microsoft.com/office/drawing/2014/main" id="{0873529D-4742-75AD-E5F6-BBBAC4082783}"/>
              </a:ext>
            </a:extLst>
          </p:cNvPr>
          <p:cNvSpPr txBox="1">
            <a:spLocks/>
          </p:cNvSpPr>
          <p:nvPr/>
        </p:nvSpPr>
        <p:spPr>
          <a:xfrm>
            <a:off x="161360" y="244136"/>
            <a:ext cx="2681949" cy="5637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MX" dirty="0"/>
              <a:t>Caso 2</a:t>
            </a:r>
            <a:endParaRPr lang="es-AR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5007C34-F603-F330-575A-B8BFCEC7508B}"/>
              </a:ext>
            </a:extLst>
          </p:cNvPr>
          <p:cNvSpPr txBox="1"/>
          <p:nvPr/>
        </p:nvSpPr>
        <p:spPr>
          <a:xfrm>
            <a:off x="161360" y="807868"/>
            <a:ext cx="398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Salidas del sistema vs Set-</a:t>
            </a:r>
            <a:r>
              <a:rPr lang="es-MX" dirty="0" err="1"/>
              <a:t>Points</a:t>
            </a:r>
            <a:r>
              <a:rPr lang="es-MX" dirty="0"/>
              <a:t>:</a:t>
            </a:r>
            <a:endParaRPr lang="es-AR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8485612-284A-79D8-428E-55992DA597B6}"/>
              </a:ext>
            </a:extLst>
          </p:cNvPr>
          <p:cNvSpPr txBox="1"/>
          <p:nvPr/>
        </p:nvSpPr>
        <p:spPr>
          <a:xfrm>
            <a:off x="91819" y="5221549"/>
            <a:ext cx="398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Detalle en velocidad</a:t>
            </a:r>
            <a:endParaRPr lang="es-AR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17DF0C8-BD47-4AE3-38BA-EC5B1751C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533" y="195308"/>
            <a:ext cx="7656239" cy="646738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B9A4AC2-D5D6-854E-1975-4AE3C3EAF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42" y="1755558"/>
            <a:ext cx="3986609" cy="333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2001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7A70055-EAFA-A605-A866-F2BF4934C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392" y="2904382"/>
            <a:ext cx="9291215" cy="1049235"/>
          </a:xfrm>
        </p:spPr>
        <p:txBody>
          <a:bodyPr>
            <a:normAutofit/>
          </a:bodyPr>
          <a:lstStyle/>
          <a:p>
            <a:r>
              <a:rPr lang="es-MX" sz="4400" dirty="0"/>
              <a:t>¡Muchas gracias!</a:t>
            </a:r>
            <a:endParaRPr lang="es-AR" sz="4400" dirty="0"/>
          </a:p>
        </p:txBody>
      </p:sp>
    </p:spTree>
    <p:extLst>
      <p:ext uri="{BB962C8B-B14F-4D97-AF65-F5344CB8AC3E}">
        <p14:creationId xmlns:p14="http://schemas.microsoft.com/office/powerpoint/2010/main" val="2794404915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ería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422</TotalTime>
  <Words>1032</Words>
  <Application>Microsoft Office PowerPoint</Application>
  <PresentationFormat>Panorámica</PresentationFormat>
  <Paragraphs>120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Adobe Thai</vt:lpstr>
      <vt:lpstr>Arial</vt:lpstr>
      <vt:lpstr>Cambria Math</vt:lpstr>
      <vt:lpstr>Rockwell</vt:lpstr>
      <vt:lpstr>Galería</vt:lpstr>
      <vt:lpstr>Control de un Motor BLDC para Articulación de Codo Protésico</vt:lpstr>
      <vt:lpstr>Resumen</vt:lpstr>
      <vt:lpstr>Sistema físico</vt:lpstr>
      <vt:lpstr>Modelo Matemático:</vt:lpstr>
      <vt:lpstr>Linealización</vt:lpstr>
      <vt:lpstr>Diseño de controlador de movimiento</vt:lpstr>
      <vt:lpstr>Lazo de control de corriente</vt:lpstr>
      <vt:lpstr>Controlador de movimiento</vt:lpstr>
      <vt:lpstr>Observador con acción integral</vt:lpstr>
      <vt:lpstr>Pruebas</vt:lpstr>
      <vt:lpstr>Caso 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¡Muchas 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Ignacio Ribeiro</dc:creator>
  <cp:lastModifiedBy>Jose Ignacio Ribeiro</cp:lastModifiedBy>
  <cp:revision>5</cp:revision>
  <dcterms:created xsi:type="dcterms:W3CDTF">2026-04-06T21:45:29Z</dcterms:created>
  <dcterms:modified xsi:type="dcterms:W3CDTF">2026-04-07T04:49:20Z</dcterms:modified>
</cp:coreProperties>
</file>